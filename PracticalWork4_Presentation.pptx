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Покрытие 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F6-4C73-BF5F-98568109056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0F6-4C73-BF5F-98568109056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0F6-4C73-BF5F-98568109056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0F6-4C73-BF5F-98568109056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F6-4C73-BF5F-98568109056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0F6-4C73-BF5F-98568109056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0F6-4C73-BF5F-98568109056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0F6-4C73-BF5F-98568109056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80F6-4C73-BF5F-98568109056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0F6-4C73-BF5F-98568109056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80F6-4C73-BF5F-985681090562}"/>
              </c:ext>
            </c:extLst>
          </c:dPt>
          <c:dPt>
            <c:idx val="1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80F6-4C73-BF5F-9856810905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Book (Domain)</c:v>
                </c:pt>
                <c:pt idx="1">
                  <c:v>Borrow (Domain)</c:v>
                </c:pt>
                <c:pt idx="2">
                  <c:v>Reader (Domain)</c:v>
                </c:pt>
                <c:pt idx="3">
                  <c:v>BookService</c:v>
                </c:pt>
                <c:pt idx="4">
                  <c:v>LibraryService</c:v>
                </c:pt>
                <c:pt idx="5">
                  <c:v>ReaderService</c:v>
                </c:pt>
                <c:pt idx="6">
                  <c:v>ArchiveService</c:v>
                </c:pt>
                <c:pt idx="7">
                  <c:v>NotificationService</c:v>
                </c:pt>
                <c:pt idx="8">
                  <c:v>RedisCache</c:v>
                </c:pt>
                <c:pt idx="9">
                  <c:v>BookRepository</c:v>
                </c:pt>
                <c:pt idx="10">
                  <c:v>ReaderRepository</c:v>
                </c:pt>
                <c:pt idx="11">
                  <c:v>MinioStorage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</c:v>
                </c:pt>
                <c:pt idx="1">
                  <c:v>86</c:v>
                </c:pt>
                <c:pt idx="2">
                  <c:v>100</c:v>
                </c:pt>
                <c:pt idx="3">
                  <c:v>85</c:v>
                </c:pt>
                <c:pt idx="4">
                  <c:v>82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100</c:v>
                </c:pt>
                <c:pt idx="9">
                  <c:v>95</c:v>
                </c:pt>
                <c:pt idx="10">
                  <c:v>93</c:v>
                </c:pt>
                <c:pt idx="1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0F6-4C73-BF5F-9856810905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8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4572000" cy="4572000"/>
          </a:xfrm>
          <a:prstGeom prst="ellipse">
            <a:avLst/>
          </a:prstGeom>
          <a:solidFill>
            <a:srgbClr val="1C2060">
              <a:alpha val="50000"/>
            </a:srgbClr>
          </a:solidFill>
          <a:ln w="12700">
            <a:solidFill>
              <a:srgbClr val="1C206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63031">
              <a:alpha val="25000"/>
            </a:srgbClr>
          </a:solidFill>
          <a:ln w="12700">
            <a:solidFill>
              <a:srgbClr val="D63031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Практическая работа №4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AA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Рефакторинг и тестирование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A0AA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микросервисов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657600" cy="0"/>
          </a:xfrm>
          <a:prstGeom prst="line">
            <a:avLst/>
          </a:prstGeom>
          <a:noFill/>
          <a:ln w="25400">
            <a:solidFill>
              <a:srgbClr val="D630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08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ab_dgt1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Цели и задачи работы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рефакторинг двух микросервисов (.NET 8 → .NET 10) с соблюдением принципов чистой архитектуры, обеспечить покрытие кода unit-тестами и подготовить документацию.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2743200" cy="32918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2704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5270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 архитектуры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Выявить нарушения Clean Architecture,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и best practices. REPORT.md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508760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508760"/>
            <a:ext cx="2743200" cy="32918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2704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15270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Миграция .NET 8 → 10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64408" y="18928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 TFM и все NuGet-пакеты до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версий, совместимых с .NET 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5896" y="1508760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1508760"/>
            <a:ext cx="2743200" cy="32918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52704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15270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Unit-тестирование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17336" y="18928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для Domain, Application 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слоёв (xUnit + Moq)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53512"/>
            <a:ext cx="27432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97180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Покрытие кода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coverlet, запустить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измерение, сгенерировать HTML-отчёт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2953512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2968" y="2953512"/>
            <a:ext cx="27432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7180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Документация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XML-комментарии, Swagger, README,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по развёртыванию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25896" y="2953512"/>
            <a:ext cx="27432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5896" y="2953512"/>
            <a:ext cx="27432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297180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73368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Презентация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17336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с архитектурными схемами,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примерами рефакторинга и выводами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407408"/>
            <a:ext cx="850392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github.com/Dragn1ll/PracticalWork.Library   </a:t>
            </a:r>
            <a:r>
              <a:rPr lang="en-US" sz="10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github.com/Dragn1ll/PracticalWork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Исходная архитектура — PracticalWork.Library (было)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проекта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84048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PracticalWork.Library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Library.Web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Library.Controllers  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             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Library.Data.PostgreSql  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Library.Cache.Redis  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Library.Data.Minio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Library.MessageBroker.RabbitMq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Library.BackgroundServices.Email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4340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Выявленные нарушения (10 проблем)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8229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8046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вместо 201/204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9875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BooksController, LibraryController, ReaderController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43400" y="12801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2618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IFormFile в Application слое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4447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IBookService, BookService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43400" y="17373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7190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без синхронизации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9019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RedisCache (оба сервиса)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43400" y="21945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1762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TotalCount = pageSize (неверная пагинация)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23591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BookRepository.GetBooks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43400" y="26517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6334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DateTime.Now вместо UTC (8 мест)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28163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Borrow, Reader, LibraryService, BookService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43400" y="31089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0906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Leak — IDisposable не освобождался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2735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ReportGenerateConsumer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43400" y="35661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5478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 в контроллере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37307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ReportsController (Library)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43400" y="40233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40050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CanDoSomething() — неясное имя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41879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Reader.cs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43400" y="4480560"/>
            <a:ext cx="25603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4622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Дублирование SharedKernel и RedisCache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464515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и Reports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— слой содержит нарушения чистой архитектуры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Целевая архитектура — PracticalWork (стало)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457200"/>
            <a:ext cx="4114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868680"/>
          </a:xfrm>
          <a:prstGeom prst="rect">
            <a:avLst/>
          </a:prstGeom>
          <a:solidFill>
            <a:srgbClr val="EBF8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05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1064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Controllers, Validators, Mappers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14800" cy="868680"/>
          </a:xfrm>
          <a:prstGeom prst="rect">
            <a:avLst/>
          </a:prstGeom>
          <a:solidFill>
            <a:srgbClr val="E6FF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BookService, LibraryService, ReaderService,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ArchiveService, NotificationService, ReportJobService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25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BookRepository, LibraryRepository,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ReaderRepository, NotificationLogRepository,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RedisCache, MinioStorage, EmailService, RabbitMqProducer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457200"/>
            <a:ext cx="41148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57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Service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114800" cy="868680"/>
          </a:xfrm>
          <a:prstGeom prst="rect">
            <a:avLst/>
          </a:prstGeom>
          <a:solidFill>
            <a:srgbClr val="EBF8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05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1064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ReportsController, Validators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828800"/>
            <a:ext cx="4114800" cy="868680"/>
          </a:xfrm>
          <a:prstGeom prst="rect">
            <a:avLst/>
          </a:prstGeom>
          <a:solidFill>
            <a:srgbClr val="E6FF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ReportService, ReportGenService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411480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25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ActivityLogRepository, ReportRepository,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RedisCache, MinioStorage, ActivityLogConsumer,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ReportGenerateConsumer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Infrastructure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160520"/>
            <a:ext cx="1508760" cy="384048"/>
          </a:xfrm>
          <a:prstGeom prst="rect">
            <a:avLst/>
          </a:prstGeom>
          <a:solidFill>
            <a:srgbClr val="E8EEFF"/>
          </a:solidFill>
          <a:ln w="12700">
            <a:solidFill>
              <a:srgbClr val="B0B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60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57400" y="4160520"/>
            <a:ext cx="1508760" cy="384048"/>
          </a:xfrm>
          <a:prstGeom prst="rect">
            <a:avLst/>
          </a:prstGeom>
          <a:solidFill>
            <a:srgbClr val="E8EEFF"/>
          </a:solidFill>
          <a:ln w="12700">
            <a:solidFill>
              <a:srgbClr val="B0B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60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4160520"/>
            <a:ext cx="1508760" cy="384048"/>
          </a:xfrm>
          <a:prstGeom prst="rect">
            <a:avLst/>
          </a:prstGeom>
          <a:solidFill>
            <a:srgbClr val="E8EEFF"/>
          </a:solidFill>
          <a:ln w="12700">
            <a:solidFill>
              <a:srgbClr val="B0B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4160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9240" y="4160520"/>
            <a:ext cx="1508760" cy="384048"/>
          </a:xfrm>
          <a:prstGeom prst="rect">
            <a:avLst/>
          </a:prstGeom>
          <a:solidFill>
            <a:srgbClr val="E8EEFF"/>
          </a:solidFill>
          <a:ln w="12700">
            <a:solidFill>
              <a:srgbClr val="B0B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4160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95160" y="4160520"/>
            <a:ext cx="1508760" cy="384048"/>
          </a:xfrm>
          <a:prstGeom prst="rect">
            <a:avLst/>
          </a:prstGeom>
          <a:solidFill>
            <a:srgbClr val="E8EEFF"/>
          </a:solidFill>
          <a:ln w="12700">
            <a:solidFill>
              <a:srgbClr val="B0B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4160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smtp4dev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Примеры рефакторинга — а) Контроллер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БЫЛО — BooksController.cs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14800" cy="2834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Неверное наследование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BooksController : Controller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HTTP 200 вместо 201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[ProducesResponseType(201)]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CreateBook(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[FromBody] CreateBookRequest request)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id = await _bookService.CreateBook(...);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Content(id.ToString()); // → 200!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HTTP 200 вместо 204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[ProducesResponseType(204)]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UpdateBook(...)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_bookService.UpdateBook(...);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Ok(); // → 200!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СТАЛО — BooksController.cs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2834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326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ControllerBase — без View поддержки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BooksController : ControllerBase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Возвращает 201 с телом и Location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[ProducesResponseType(typeof(CreateBookResponse), 201)]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CreateBook(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[FromBody] CreateBookRequest request)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id = await _bookService.CreateBook(...);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CreatedAtAction(nameof(GetBooks),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{ id }, new CreateBookResponse { Id = id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Возвращает 204 No Content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[ProducesResponseType(204)]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UpdateBook(...)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_bookService.UpdateBook(...);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NoContent(); // → 204!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3767328"/>
            <a:ext cx="850392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исправлены: LibraryController ([HttpPost] → [HttpGet] для детальных запросов), ReaderController (CloseReader → DELETE /id вместо POST /id/close), RestController в Reports.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Примеры рефакторинга — б) Репозиторий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БЫЛО — BookRepository.GetBooks()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14800" cy="26060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ВСЯ таблица загружается в RAM,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потом Skip/Take в памяти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entities = await books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.AsNoTracking()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.Where(b =&gt; ...)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.ToListAsync();      // N книг из БД!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items = entities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.Skip((page - 1) * pageSize) // в RAM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.Take(pageSize)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.Select(...).ToList();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TotalCount = items.Count = кол-во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на странице, а не всего записей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PagedListDto(items,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page, pageSize, entities.Count); // WRONG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СТАЛО — BookRepository.GetBooks()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26060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32688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Пагинация и COUNT — на уровне БД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query = books.AsNoTracking()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.Where(b =&gt; ...);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Один запрос: SELECT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totalCount = await query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.CountAsync();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Второй: SELECT ... LIMIT pageSize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OFFSET (page-1)*pageSize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items = await query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.Skip((page - 1) * pageSize)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.Take(pageSize)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.Select(...).ToListAsync();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TotalCount — реальное кол-во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PagedListDto(items,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page, pageSize, totalCount); // OK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3547872"/>
            <a:ext cx="8503920" cy="640080"/>
          </a:xfrm>
          <a:prstGeom prst="rect">
            <a:avLst/>
          </a:prstGeom>
          <a:solidFill>
            <a:srgbClr val="FAFFFE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RedisCache — потокобезопасность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Было: private readonly List&lt;string&gt; _keys;  →  Стало: private readonly ConcurrentDictionary&lt;string, byte&gt; _keys;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88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ReportGenerateConsumer — Scope Leak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4897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Было: var scope = _scopeFactory.CreateScope();   →   Стало: using var scope = _scopeFactory.CreateScope();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Примеры рефакторинга — в) Фоновая задача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БЫЛО — Entry.cs (BackgroundServices.Email)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14800" cy="2834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IServiceCollection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AddEmailBackgroundService(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 IServiceCollection svc,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IConfiguration cfg)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Нет: services.AddEmail()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Нет: Configure&lt;EmailTemplateSettings&gt;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Нет: Configure&lt;JobSettings&gt;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Нет: Configure&lt;ArchiveSettings&gt;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Нет: TimeProvider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svc.AddSingleton&lt;IEmailTemplateService,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EmailTemplateService&gt;();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svc.AddScoped&lt;INotificationService,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NotificationService&gt;();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→ Запуск: InvalidOperationException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IEmailService не зарегистрирован!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СТАЛО — Entry.cs (исправленная регистрация)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2834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2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326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IServiceCollection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AddEmailBackgroundService(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 IServiceCollection svc,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IConfiguration cfg)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Настройки вынесены в appsettings.json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svc.Configure&lt;EmailTemplateSettings&gt;(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cfg.GetSection("EmailTemplateSettings"));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svc.Configure&lt;JobSettings&gt;(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cfg.GetSection("JobSettings"));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svc.Configure&lt;ArchiveSettings&gt;(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cfg.GetSection("ArchiveSettings"));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Системные часы для TimeProvider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svc.AddSingleton(TimeProvider.System);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SMTP + IEmailService через DI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svc.AddEmail();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svc.AddScoped&lt;IBookService, BookService&gt;();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3794760"/>
            <a:ext cx="85039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appsettings.json: исправлен BaseUrl: "localhost:5454" → "http://localhost:5454" (HttpClient требует схему URI)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unit-тестов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6575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Library.UnitTests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488780"/>
            <a:ext cx="4114800" cy="219456"/>
          </a:xfrm>
          <a:prstGeom prst="rect">
            <a:avLst/>
          </a:prstGeom>
          <a:solidFill>
            <a:srgbClr val="ED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253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08236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BookTests (7 тестов)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900260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BorrowTests (6)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9228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ReaderTests (7)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28430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LibraryReportTests (3)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512908"/>
            <a:ext cx="4114800" cy="219456"/>
          </a:xfrm>
          <a:prstGeom prst="rect">
            <a:avLst/>
          </a:prstGeom>
          <a:solidFill>
            <a:srgbClr val="ED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403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73236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BookServiceTests (7)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192438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LibraryServiceTests (8)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11641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ReaderServiceTests (8)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345012"/>
            <a:ext cx="4114800" cy="219456"/>
          </a:xfrm>
          <a:prstGeom prst="rect">
            <a:avLst/>
          </a:prstGeom>
          <a:solidFill>
            <a:srgbClr val="ED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724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BackgroundServices/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56446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ArchiveServiceTests (6)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75649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NotificationServiceTests (10)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2948516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ReportJobServiceTests (8)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3140540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EmailTemplateServiceTests (2)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369140"/>
            <a:ext cx="4114800" cy="219456"/>
          </a:xfrm>
          <a:prstGeom prst="rect">
            <a:avLst/>
          </a:prstGeom>
          <a:solidFill>
            <a:srgbClr val="ED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965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588596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RedisCacheTests (6)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780620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EmailServiceTests (6)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97264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MinioStorageTests (3)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201244"/>
            <a:ext cx="4114800" cy="219456"/>
          </a:xfrm>
          <a:prstGeom prst="rect">
            <a:avLst/>
          </a:prstGeom>
          <a:solidFill>
            <a:srgbClr val="ED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286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420700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BookRepositoryTests (8)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461272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LibraryRepositoryTests (7)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80474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ReaderRepositoryTests (7)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4951476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NotificationLogRepositoryTests (5)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Reports.UnitTests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804672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832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102412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ReportModelTests (3 теста)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1252728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2801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47218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ReportServiceTests (9)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166420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ReportGenServiceTests (6)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1892808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9202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2112264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ActivityLogRepositoryTests (8)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63440" y="230428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ReportRepositoryTests (8)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2331720"/>
            <a:ext cx="411480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2651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xUnit 2.9.3 — тестовый фреймворк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2834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Moq 4.20.72 — мокирование зависимостей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EF Core InMemory 10.0.8 — in-memory БД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coverlet.collector — измерение покрытия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520440"/>
            <a:ext cx="4114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Итого: ~145 unit-тестов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754880" y="3858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~113  ·  Reports: ~32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 покрытия тестами — Library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19202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21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060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50008" y="530352"/>
            <a:ext cx="19202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621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41448" y="1060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9976" y="530352"/>
            <a:ext cx="19202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1416" y="621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71416" y="1060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9944" y="530352"/>
            <a:ext cx="19202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1384" y="621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01384" y="1060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всего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1572768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217920" y="1572768"/>
            <a:ext cx="2606040" cy="32918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покрыто: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MinioStorage (new MinioClient())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30936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CreateBookDetails (IFormFile)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09360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GetBookDetailsByTitle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0936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LibraryEventProducer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30936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ReportsServiceClient (HTTP)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Hangfire Jobs (тонкие обёртки)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30936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RabbitMqConsumer (protected)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09360" y="4288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ActivityLogConsumer (protected)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Процесс миграции на .NET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502920" cy="12801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758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TargetFramework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069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.csproj: net8.0 → net10.0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проектов в обоих решениях)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502920" cy="12801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176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 Core 10.0.8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487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Microsoft.EntityFrameworkCore + Tools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Design + InMemory → 10.0.8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29000"/>
            <a:ext cx="502920" cy="12801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Microsoft.Extensions.*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9044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Configuration, Logging,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→ 10.0.0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59436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594360"/>
            <a:ext cx="5029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758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Npgsql EF 10.0.2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1069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Npgsql.EntityFrameworkCore.PostgreSQL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обновлён до версии под .NET 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011680"/>
            <a:ext cx="5029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2176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Asp.Versioning 10.0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2487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API-версионирования обновлён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версии 10.0.0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4114800" cy="128016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429000"/>
            <a:ext cx="5029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Directory.Packages.props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39044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Централизованное управление версиями: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CPM для обоих решений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Сторонние пакеты (MailKit 4.17, RabbitMQ.Client 7.2, StackExchange.Redis 2.10, Hangfire 1.8, Minio 6.0, Swashbuckle 10) — совместимы с .NET 10 через netstandard2.x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Созданная документация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530352"/>
            <a:ext cx="137160" cy="12801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0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архитектуры: 10 нарушений Clean Architecture,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и best practices с примерами кода, таблицей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серьёзности и рекомендациями по исправлению.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53035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530352"/>
            <a:ext cx="137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640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9418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документация обоих сервисов: описание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архитектуры, стек технологий, инструкция по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быстрому старту, конфигурация, API-таблицы.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47672"/>
            <a:ext cx="13716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coverlet.runsettings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5915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фильтров покрытия для каждого решения: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включены Application и Domain слои, исключены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миграции, точки входа, Presentation layer.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94767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47672"/>
            <a:ext cx="137160" cy="1280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run-coverage.sh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для запуска тестов с покрытием и генерации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HTML-отчёта через ReportGenerator для Library 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в одну команду.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36499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64992"/>
            <a:ext cx="137160" cy="128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coverage-report.html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7764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Интерактивный HTML-отчёт покрытия с таблицами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методов по слоям, статусами (покрыт / частично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покрыт), объяснением непокрытых элементов.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364992"/>
            <a:ext cx="4206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364992"/>
            <a:ext cx="137160" cy="1280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XML-комментарии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7764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&lt;summary&gt; для всех публичных сервисов, репозиториев,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интерфейсов и методов. Swagger документация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обоих API генерируется автоматически.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solidFill>
            <a:srgbClr val="F0F4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доступен на /swagger для Library (:5251) и Reports (:5093). Coverlet + ReportGenerator настроены в coverlet.runsettings обоих решений.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4114800" cy="182880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31520"/>
            <a:ext cx="502920" cy="50292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7498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Архитектурные нарушения исправлены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нарушений: неверные HTTP-коды, отсутствие ControllerBase,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Leak, пагинация в RAM, IFormFile в Application — устранены.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Письменный REPORT.md с примерами.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548640"/>
            <a:ext cx="4114800" cy="182880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731520"/>
            <a:ext cx="502920" cy="50292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7498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Миграция на .NET 10 завершена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.csproj переведены на net10.0, EF Core 10.0.8, Npgsql 10.0.2,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Microsoft.Extensions 10.0. Directory.Packages.props в обоих решениях.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14800" cy="182880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614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145 unit-тестов, покрытие ~82%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86%, Application: 82%, критическая инфраструктура: 75%+.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coverlet.runsettings настроен для обоих решений. HTML-отчёт готов.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114800" cy="1828800"/>
          </a:xfrm>
          <a:prstGeom prst="rect">
            <a:avLst/>
          </a:prstGeom>
          <a:solidFill>
            <a:srgbClr val="181C3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743200"/>
            <a:ext cx="502920" cy="50292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7614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Документация полностью готова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REPORT.md, README.md, XML-комментарии, Swagger, coverlet.runsettings,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run-coverage.sh, coverage-report.html — все артефакты созданы.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1C2060">
              <a:alpha val="40000"/>
            </a:srgbClr>
          </a:solidFill>
          <a:ln w="12700">
            <a:solidFill>
              <a:srgbClr val="1C206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200400" cy="0"/>
          </a:xfrm>
          <a:prstGeom prst="line">
            <a:avLst/>
          </a:prstGeom>
          <a:noFill/>
          <a:ln w="25400">
            <a:solidFill>
              <a:srgbClr val="D630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r>
              <a:rPr lang="en-US" sz="11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github.com/Dragn1ll/PracticalWork.Library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r>
              <a:rPr lang="en-US" sz="1100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github.com/Dragn1ll/PracticalWork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4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ab_dgt1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1926</Words>
  <Application>Microsoft Office PowerPoint</Application>
  <PresentationFormat>Экран (16:9)</PresentationFormat>
  <Paragraphs>381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Рефакторинг и тестирование .NET микросервисов</dc:title>
  <dc:subject>PptxGenJS Presentation</dc:subject>
  <dc:creator>PracticalWork</dc:creator>
  <cp:lastModifiedBy>Shakhzod Abdulloev</cp:lastModifiedBy>
  <cp:revision>3</cp:revision>
  <dcterms:created xsi:type="dcterms:W3CDTF">2026-06-04T20:16:47Z</dcterms:created>
  <dcterms:modified xsi:type="dcterms:W3CDTF">2026-06-05T10:48:52Z</dcterms:modified>
</cp:coreProperties>
</file>